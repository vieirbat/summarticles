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63" r:id="rId6"/>
    <p:sldId id="265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76319" autoAdjust="0"/>
  </p:normalViewPr>
  <p:slideViewPr>
    <p:cSldViewPr snapToGrid="0">
      <p:cViewPr varScale="1">
        <p:scale>
          <a:sx n="81" d="100"/>
          <a:sy n="81" d="100"/>
        </p:scale>
        <p:origin x="11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FA3AB-A654-4981-98C6-FEBE61492F5E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5AD0D-19A5-4176-8815-18A006909F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14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5AD0D-19A5-4176-8815-18A006909F2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245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5AD0D-19A5-4176-8815-18A006909F2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139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5AD0D-19A5-4176-8815-18A006909F2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760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5AD0D-19A5-4176-8815-18A006909F2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156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DA6A5-BB29-41F3-9955-60FE014E5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D3BEB9-D2D7-49F4-9CB9-A6BDAFA60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E05F2E-E822-440A-9E97-44932E806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058049-488E-4FFD-AE95-6AC6B387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BD3EEE-03FC-4375-A81E-D6E66E02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60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76EC4-E0A3-4D4D-AE1F-96FBD839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AABB9F-B931-47CD-95D0-CAC9B686B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2F71F0-54ED-45A4-8F7B-2F27F3B77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289164-33DE-4509-94AB-79CDD1E4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303870-9C1E-4112-A4DD-7848DED1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97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4E3B1-F803-44F6-A99A-9B783DCC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09292B-CE19-4A90-9C54-42D8B5917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5D77E-23CD-406F-907A-B75C1D4C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7B3BFA-21BB-477D-B2FF-559E66BB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9D47CA-B168-4E2F-A9D8-BD74B76A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69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3B0C7-10CD-40FC-AC66-F33539E2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C1A099-CD42-4D30-B3DC-A03016D2B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8E1A29-752F-4E59-B2D1-3BB1D596E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E819EE-4D87-4C18-A22A-F29A1B28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8C726-A784-49CE-A213-F44787C8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DE8B34-7CA1-45E3-B1DB-8CB257E2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17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70158-939A-44FC-BC68-B30DF7A1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D6C439-2468-40B3-95AD-0066F03E4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F305B8-395F-4E35-9DF3-F41EBACD1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16E404-FFCC-44F6-8DE0-59BA340A1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7AADF3-7362-44EC-B3CF-117E96138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4FD85DD-CB0E-4579-B7F6-DEB42867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7A11B51-191B-4684-8A13-8DE7E101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BB2E63-BFB3-47AC-B709-701053E5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77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5F136-EC0D-420D-97ED-0242D92B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85C539-8D7D-4C15-810B-E8448C18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B520A3-06B6-4E87-B60E-04CADCB7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E9046E-4ED3-47D8-8A25-8FFF05A3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41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83DBC0-128A-4FEC-8CF2-3F50167D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FC2B24-0BAA-46A3-8776-AF80AB8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86B372-59C3-49ED-A3FC-21493260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01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2FC03-87A3-4821-8CC0-F4862895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99B51D-CD3C-4B53-96B9-6A63BDD2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C95626-1BBF-49ED-9514-B6EC8710A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E43269-02FA-4D47-9C80-F3AB84E1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E2D88D-317D-4219-8D34-20D36F71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71D192-AA78-489F-AF65-D4CE4A57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14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195AE-8DFA-432B-9194-6FD2867C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D4A58F-5077-421B-A42D-48E5CB38F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16BCEE-BFDD-42D2-8715-CC05284BA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2E1FC2-1AA1-4F9A-9D2D-30BAC2C8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B785C0-2125-48CF-99EA-B9CE5C91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660525-FB82-4AF3-830F-41D8A862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13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400E7-AC9C-4CE5-8C4A-E72C76AD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8F575E-0F1A-4246-BE41-B006CC8ED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9964E8-1FA1-4BF6-9879-E0D2BEF4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628D3-06EE-4B34-AB44-B935618E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4B2F42-0696-4426-AFFA-72A58871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95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D31E6-4FD9-4C83-A0F7-FA9338BB0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E796CF-83F9-4049-8E11-351F1FD7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3E644F-82D6-4B41-9CBD-12B3B4167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87DDD8-3624-4320-BF6C-8D372FD9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5D5A9A-1633-4457-B78E-E9A1CA4A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27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9F9D98D-551C-4C7B-9F91-FF92B2DE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C22205-C3CA-42A0-A88E-4CDBECBF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602E6E-37DD-4734-95FA-BE4DBDDB6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1FF81-7762-4C27-B60C-314EB320EC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AFD6C0-A025-425D-A685-0025B8932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7CD998-C49C-4645-B4D8-18E593D4A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F0664-2B01-491E-98FA-218711260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06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ndata.github.io/cookiecutter-data-science/" TargetMode="External"/><Relationship Id="rId2" Type="http://schemas.openxmlformats.org/officeDocument/2006/relationships/hyperlink" Target="https://github.com/Vieirbat/PGC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overleaf.com/9326635892jdwxdzgxnwtj" TargetMode="External"/><Relationship Id="rId4" Type="http://schemas.openxmlformats.org/officeDocument/2006/relationships/hyperlink" Target="https://github.com/users/Vieirbat/projects/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0.04805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3F515BC-E798-4674-A6D0-E729011331CF}"/>
              </a:ext>
            </a:extLst>
          </p:cNvPr>
          <p:cNvSpPr/>
          <p:nvPr/>
        </p:nvSpPr>
        <p:spPr>
          <a:xfrm>
            <a:off x="2952925" y="1110502"/>
            <a:ext cx="922789" cy="27368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6F4441B-FAF7-4883-A634-10A029B90398}"/>
              </a:ext>
            </a:extLst>
          </p:cNvPr>
          <p:cNvSpPr/>
          <p:nvPr/>
        </p:nvSpPr>
        <p:spPr>
          <a:xfrm>
            <a:off x="629174" y="1367406"/>
            <a:ext cx="1459685" cy="38397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A6EB79E-32F7-44AB-9E39-A2FCB86C4018}"/>
              </a:ext>
            </a:extLst>
          </p:cNvPr>
          <p:cNvSpPr/>
          <p:nvPr/>
        </p:nvSpPr>
        <p:spPr>
          <a:xfrm rot="17132335">
            <a:off x="1310080" y="3784064"/>
            <a:ext cx="75501" cy="838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112E2AC-8E50-4103-B002-FAC31776CFA3}"/>
              </a:ext>
            </a:extLst>
          </p:cNvPr>
          <p:cNvSpPr/>
          <p:nvPr/>
        </p:nvSpPr>
        <p:spPr>
          <a:xfrm rot="17132335">
            <a:off x="1310080" y="3995187"/>
            <a:ext cx="75501" cy="838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FA2F293-4A8B-49CC-8C60-7994B35D1A8D}"/>
              </a:ext>
            </a:extLst>
          </p:cNvPr>
          <p:cNvSpPr/>
          <p:nvPr/>
        </p:nvSpPr>
        <p:spPr>
          <a:xfrm rot="17132335">
            <a:off x="1310080" y="4197921"/>
            <a:ext cx="75501" cy="838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2730A3-3F31-45A4-8A9A-93BB9B7D16CB}"/>
              </a:ext>
            </a:extLst>
          </p:cNvPr>
          <p:cNvSpPr txBox="1"/>
          <p:nvPr/>
        </p:nvSpPr>
        <p:spPr>
          <a:xfrm>
            <a:off x="453006" y="251670"/>
            <a:ext cx="10796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Berlin Sans FB Demi" panose="020E0802020502020306" pitchFamily="34" charset="0"/>
              </a:rPr>
              <a:t>Fluxo de Aplicação - PGC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DED239E-82AF-4D14-9B50-A976AFF44227}"/>
              </a:ext>
            </a:extLst>
          </p:cNvPr>
          <p:cNvSpPr/>
          <p:nvPr/>
        </p:nvSpPr>
        <p:spPr>
          <a:xfrm>
            <a:off x="755009" y="1557835"/>
            <a:ext cx="1216404" cy="6174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Artigo 1</a:t>
            </a:r>
          </a:p>
        </p:txBody>
      </p:sp>
      <p:pic>
        <p:nvPicPr>
          <p:cNvPr id="1026" name="Picture 2" descr="Free Icon | Article">
            <a:extLst>
              <a:ext uri="{FF2B5EF4-FFF2-40B4-BE49-F238E27FC236}">
                <a16:creationId xmlns:a16="http://schemas.microsoft.com/office/drawing/2014/main" id="{14C3F7DF-FF50-40D5-B59D-383ECA892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79" y="1650883"/>
            <a:ext cx="431334" cy="43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09D0A66-5C5E-49B7-84CE-06593B3A0101}"/>
              </a:ext>
            </a:extLst>
          </p:cNvPr>
          <p:cNvSpPr/>
          <p:nvPr/>
        </p:nvSpPr>
        <p:spPr>
          <a:xfrm>
            <a:off x="755009" y="2290472"/>
            <a:ext cx="1216404" cy="6174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Artigo 2</a:t>
            </a:r>
          </a:p>
        </p:txBody>
      </p:sp>
      <p:pic>
        <p:nvPicPr>
          <p:cNvPr id="20" name="Picture 2" descr="Free Icon | Article">
            <a:extLst>
              <a:ext uri="{FF2B5EF4-FFF2-40B4-BE49-F238E27FC236}">
                <a16:creationId xmlns:a16="http://schemas.microsoft.com/office/drawing/2014/main" id="{C7316680-6C72-4122-9B54-8833F30AE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79" y="2383520"/>
            <a:ext cx="431334" cy="43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4C5B71A6-7223-453E-A859-FC389459A363}"/>
              </a:ext>
            </a:extLst>
          </p:cNvPr>
          <p:cNvSpPr/>
          <p:nvPr/>
        </p:nvSpPr>
        <p:spPr>
          <a:xfrm>
            <a:off x="755009" y="3042568"/>
            <a:ext cx="1216404" cy="6174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Artigo 3</a:t>
            </a:r>
          </a:p>
        </p:txBody>
      </p:sp>
      <p:pic>
        <p:nvPicPr>
          <p:cNvPr id="22" name="Picture 2" descr="Free Icon | Article">
            <a:extLst>
              <a:ext uri="{FF2B5EF4-FFF2-40B4-BE49-F238E27FC236}">
                <a16:creationId xmlns:a16="http://schemas.microsoft.com/office/drawing/2014/main" id="{F7E0DD4A-4EF5-4047-8E33-CBB85084C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79" y="3135616"/>
            <a:ext cx="431334" cy="43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B230EB1-2438-41AD-A7D7-356F7CDEF82E}"/>
              </a:ext>
            </a:extLst>
          </p:cNvPr>
          <p:cNvSpPr/>
          <p:nvPr/>
        </p:nvSpPr>
        <p:spPr>
          <a:xfrm>
            <a:off x="755009" y="4394990"/>
            <a:ext cx="1216404" cy="6174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Artigo N</a:t>
            </a:r>
          </a:p>
        </p:txBody>
      </p:sp>
      <p:pic>
        <p:nvPicPr>
          <p:cNvPr id="24" name="Picture 2" descr="Free Icon | Article">
            <a:extLst>
              <a:ext uri="{FF2B5EF4-FFF2-40B4-BE49-F238E27FC236}">
                <a16:creationId xmlns:a16="http://schemas.microsoft.com/office/drawing/2014/main" id="{0E85967D-F984-41F6-A7C2-77FA4C06B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79" y="4488038"/>
            <a:ext cx="431334" cy="43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13DEE38-0F0E-4E0E-9890-2E6ABA086BA1}"/>
              </a:ext>
            </a:extLst>
          </p:cNvPr>
          <p:cNvSpPr/>
          <p:nvPr/>
        </p:nvSpPr>
        <p:spPr>
          <a:xfrm>
            <a:off x="2298583" y="1367406"/>
            <a:ext cx="9471171" cy="38397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496AAE6-1627-4806-A26E-C936F1C223F5}"/>
              </a:ext>
            </a:extLst>
          </p:cNvPr>
          <p:cNvSpPr txBox="1"/>
          <p:nvPr/>
        </p:nvSpPr>
        <p:spPr>
          <a:xfrm>
            <a:off x="2923563" y="1073872"/>
            <a:ext cx="98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Aplicação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964705D-E735-493B-BDFF-19C84ACFD8D6}"/>
              </a:ext>
            </a:extLst>
          </p:cNvPr>
          <p:cNvSpPr/>
          <p:nvPr/>
        </p:nvSpPr>
        <p:spPr>
          <a:xfrm>
            <a:off x="902708" y="1095484"/>
            <a:ext cx="922789" cy="27368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197336C-61D6-4AE0-8304-C0CC0042D85A}"/>
              </a:ext>
            </a:extLst>
          </p:cNvPr>
          <p:cNvSpPr txBox="1"/>
          <p:nvPr/>
        </p:nvSpPr>
        <p:spPr>
          <a:xfrm>
            <a:off x="873346" y="1058854"/>
            <a:ext cx="98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Artigos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24C1EC59-35F3-44EF-84D4-3A2C433FDDF1}"/>
              </a:ext>
            </a:extLst>
          </p:cNvPr>
          <p:cNvSpPr/>
          <p:nvPr/>
        </p:nvSpPr>
        <p:spPr>
          <a:xfrm>
            <a:off x="2012797" y="2017064"/>
            <a:ext cx="729267" cy="431334"/>
          </a:xfrm>
          <a:prstGeom prst="rightArrow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6BBF8BFA-852F-4060-BF09-3B35546BECE4}"/>
              </a:ext>
            </a:extLst>
          </p:cNvPr>
          <p:cNvSpPr/>
          <p:nvPr/>
        </p:nvSpPr>
        <p:spPr>
          <a:xfrm>
            <a:off x="1116463" y="5207117"/>
            <a:ext cx="495648" cy="1904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51D4FD-FBF9-4A3C-A95E-9BB473061F59}"/>
              </a:ext>
            </a:extLst>
          </p:cNvPr>
          <p:cNvSpPr txBox="1"/>
          <p:nvPr/>
        </p:nvSpPr>
        <p:spPr>
          <a:xfrm>
            <a:off x="1087100" y="5136982"/>
            <a:ext cx="583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PDF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184DA37-2F80-46B5-A6B1-518B827821DE}"/>
              </a:ext>
            </a:extLst>
          </p:cNvPr>
          <p:cNvSpPr/>
          <p:nvPr/>
        </p:nvSpPr>
        <p:spPr>
          <a:xfrm>
            <a:off x="2790930" y="1492467"/>
            <a:ext cx="1626692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A9F3F6A4-7586-4CF2-9B87-DB8BE9B04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014" y="1527083"/>
            <a:ext cx="1114524" cy="965921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B9EE595B-EE94-4712-BCA9-DBD1852B9A75}"/>
              </a:ext>
            </a:extLst>
          </p:cNvPr>
          <p:cNvSpPr txBox="1"/>
          <p:nvPr/>
        </p:nvSpPr>
        <p:spPr>
          <a:xfrm>
            <a:off x="2581367" y="2480939"/>
            <a:ext cx="204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GROBID (Java)</a:t>
            </a:r>
          </a:p>
          <a:p>
            <a:pPr algn="ctr"/>
            <a:r>
              <a:rPr lang="pt-BR" dirty="0"/>
              <a:t>Data Extraction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69B8C1C-ACE7-4E62-9072-08E9E434D880}"/>
              </a:ext>
            </a:extLst>
          </p:cNvPr>
          <p:cNvSpPr/>
          <p:nvPr/>
        </p:nvSpPr>
        <p:spPr>
          <a:xfrm>
            <a:off x="5070828" y="1492467"/>
            <a:ext cx="1626692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E211CB5-0667-42D9-BF5B-B570F4191EC2}"/>
              </a:ext>
            </a:extLst>
          </p:cNvPr>
          <p:cNvSpPr txBox="1"/>
          <p:nvPr/>
        </p:nvSpPr>
        <p:spPr>
          <a:xfrm>
            <a:off x="4861265" y="2480939"/>
            <a:ext cx="204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Python XML</a:t>
            </a:r>
          </a:p>
          <a:p>
            <a:pPr algn="ctr"/>
            <a:r>
              <a:rPr lang="pt-BR" dirty="0"/>
              <a:t>Data Cleaning</a:t>
            </a:r>
          </a:p>
        </p:txBody>
      </p:sp>
      <p:pic>
        <p:nvPicPr>
          <p:cNvPr id="1028" name="Picture 4" descr="Data cleaning - Free files and folders icons">
            <a:extLst>
              <a:ext uri="{FF2B5EF4-FFF2-40B4-BE49-F238E27FC236}">
                <a16:creationId xmlns:a16="http://schemas.microsoft.com/office/drawing/2014/main" id="{FF28AC6A-43BB-40E1-93E5-348E32204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003" y="1596894"/>
            <a:ext cx="840339" cy="84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81B9E86D-F8C7-41A1-BBA7-77956E0264AE}"/>
              </a:ext>
            </a:extLst>
          </p:cNvPr>
          <p:cNvSpPr/>
          <p:nvPr/>
        </p:nvSpPr>
        <p:spPr>
          <a:xfrm>
            <a:off x="9529686" y="1492467"/>
            <a:ext cx="1626692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2AA9883F-F3B2-47C8-9F52-9D9842E91306}"/>
              </a:ext>
            </a:extLst>
          </p:cNvPr>
          <p:cNvSpPr txBox="1"/>
          <p:nvPr/>
        </p:nvSpPr>
        <p:spPr>
          <a:xfrm>
            <a:off x="9320123" y="2480939"/>
            <a:ext cx="204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PyTorch</a:t>
            </a:r>
            <a:endParaRPr lang="pt-BR" dirty="0"/>
          </a:p>
          <a:p>
            <a:pPr algn="ctr"/>
            <a:r>
              <a:rPr lang="pt-BR" dirty="0" err="1"/>
              <a:t>MatBERT</a:t>
            </a:r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0CC319E-C9C0-4D97-8790-691D688D2111}"/>
              </a:ext>
            </a:extLst>
          </p:cNvPr>
          <p:cNvSpPr/>
          <p:nvPr/>
        </p:nvSpPr>
        <p:spPr>
          <a:xfrm>
            <a:off x="7249788" y="1492467"/>
            <a:ext cx="1626692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C0E62D3-BA61-45F2-883A-668F2E194104}"/>
              </a:ext>
            </a:extLst>
          </p:cNvPr>
          <p:cNvSpPr txBox="1"/>
          <p:nvPr/>
        </p:nvSpPr>
        <p:spPr>
          <a:xfrm>
            <a:off x="7040225" y="2480939"/>
            <a:ext cx="204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Python</a:t>
            </a:r>
          </a:p>
          <a:p>
            <a:pPr algn="ctr"/>
            <a:r>
              <a:rPr lang="pt-BR" dirty="0" err="1"/>
              <a:t>DataPrep</a:t>
            </a:r>
            <a:endParaRPr lang="pt-BR" dirty="0"/>
          </a:p>
        </p:txBody>
      </p:sp>
      <p:pic>
        <p:nvPicPr>
          <p:cNvPr id="58" name="Picture 6" descr="Data mining - Free computer icons">
            <a:extLst>
              <a:ext uri="{FF2B5EF4-FFF2-40B4-BE49-F238E27FC236}">
                <a16:creationId xmlns:a16="http://schemas.microsoft.com/office/drawing/2014/main" id="{1A4F6EFB-7163-4E7E-AA9A-60E0B842D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268" y="1625960"/>
            <a:ext cx="854979" cy="85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162DA126-D581-44BD-8CC6-915297F38A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012" y="1632519"/>
            <a:ext cx="852836" cy="851504"/>
          </a:xfrm>
          <a:prstGeom prst="rect">
            <a:avLst/>
          </a:prstGeom>
        </p:spPr>
      </p:pic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D45F04F-85D5-4798-BD6B-6400279F642A}"/>
              </a:ext>
            </a:extLst>
          </p:cNvPr>
          <p:cNvSpPr/>
          <p:nvPr/>
        </p:nvSpPr>
        <p:spPr>
          <a:xfrm>
            <a:off x="9460934" y="3365135"/>
            <a:ext cx="1813638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92B1F59-F6DC-4F82-BDFE-197DADCABFCA}"/>
              </a:ext>
            </a:extLst>
          </p:cNvPr>
          <p:cNvSpPr txBox="1"/>
          <p:nvPr/>
        </p:nvSpPr>
        <p:spPr>
          <a:xfrm>
            <a:off x="9344944" y="4353607"/>
            <a:ext cx="2103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Python</a:t>
            </a:r>
          </a:p>
          <a:p>
            <a:pPr algn="ctr"/>
            <a:r>
              <a:rPr lang="pt-BR" dirty="0"/>
              <a:t>Model Validation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7C188023-990B-4549-BA04-82DB93643A02}"/>
              </a:ext>
            </a:extLst>
          </p:cNvPr>
          <p:cNvSpPr/>
          <p:nvPr/>
        </p:nvSpPr>
        <p:spPr>
          <a:xfrm>
            <a:off x="7147855" y="3365135"/>
            <a:ext cx="2021533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1FA4687B-5CC6-4541-8D12-A0624A30D180}"/>
              </a:ext>
            </a:extLst>
          </p:cNvPr>
          <p:cNvSpPr txBox="1"/>
          <p:nvPr/>
        </p:nvSpPr>
        <p:spPr>
          <a:xfrm>
            <a:off x="7056709" y="4299831"/>
            <a:ext cx="2218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Python</a:t>
            </a:r>
          </a:p>
          <a:p>
            <a:pPr algn="ctr"/>
            <a:r>
              <a:rPr lang="pt-BR" dirty="0"/>
              <a:t>Data Transformation</a:t>
            </a: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8C1E6E18-649F-4A88-991E-FC25590EC851}"/>
              </a:ext>
            </a:extLst>
          </p:cNvPr>
          <p:cNvSpPr/>
          <p:nvPr/>
        </p:nvSpPr>
        <p:spPr>
          <a:xfrm>
            <a:off x="4936731" y="3351106"/>
            <a:ext cx="1842736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D91E8BB-3863-4DE8-AC73-F1DE8BF50836}"/>
              </a:ext>
            </a:extLst>
          </p:cNvPr>
          <p:cNvSpPr txBox="1"/>
          <p:nvPr/>
        </p:nvSpPr>
        <p:spPr>
          <a:xfrm>
            <a:off x="4856850" y="4339578"/>
            <a:ext cx="204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Plotly</a:t>
            </a:r>
          </a:p>
          <a:p>
            <a:pPr algn="ctr"/>
            <a:r>
              <a:rPr lang="pt-BR" dirty="0"/>
              <a:t>Data Visualization</a:t>
            </a:r>
          </a:p>
        </p:txBody>
      </p:sp>
      <p:sp>
        <p:nvSpPr>
          <p:cNvPr id="47" name="Seta: para a Direita 46">
            <a:extLst>
              <a:ext uri="{FF2B5EF4-FFF2-40B4-BE49-F238E27FC236}">
                <a16:creationId xmlns:a16="http://schemas.microsoft.com/office/drawing/2014/main" id="{D6BF1D6A-24B8-4FAE-80E4-A0872611A79A}"/>
              </a:ext>
            </a:extLst>
          </p:cNvPr>
          <p:cNvSpPr/>
          <p:nvPr/>
        </p:nvSpPr>
        <p:spPr>
          <a:xfrm>
            <a:off x="4332890" y="2038120"/>
            <a:ext cx="1011005" cy="398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Seta: para a Direita 70">
            <a:extLst>
              <a:ext uri="{FF2B5EF4-FFF2-40B4-BE49-F238E27FC236}">
                <a16:creationId xmlns:a16="http://schemas.microsoft.com/office/drawing/2014/main" id="{623FF6F3-FC37-4350-B8C0-8E94161B620F}"/>
              </a:ext>
            </a:extLst>
          </p:cNvPr>
          <p:cNvSpPr/>
          <p:nvPr/>
        </p:nvSpPr>
        <p:spPr>
          <a:xfrm>
            <a:off x="6494593" y="2038120"/>
            <a:ext cx="1011005" cy="398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Seta: para a Direita 71">
            <a:extLst>
              <a:ext uri="{FF2B5EF4-FFF2-40B4-BE49-F238E27FC236}">
                <a16:creationId xmlns:a16="http://schemas.microsoft.com/office/drawing/2014/main" id="{A30DD923-CE56-455B-86B3-0DD96D839BE5}"/>
              </a:ext>
            </a:extLst>
          </p:cNvPr>
          <p:cNvSpPr/>
          <p:nvPr/>
        </p:nvSpPr>
        <p:spPr>
          <a:xfrm>
            <a:off x="8761844" y="2038120"/>
            <a:ext cx="1011005" cy="398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Seta: Curva para Baixo 50">
            <a:extLst>
              <a:ext uri="{FF2B5EF4-FFF2-40B4-BE49-F238E27FC236}">
                <a16:creationId xmlns:a16="http://schemas.microsoft.com/office/drawing/2014/main" id="{EDE4EE91-B618-450E-B298-D0FAA0213917}"/>
              </a:ext>
            </a:extLst>
          </p:cNvPr>
          <p:cNvSpPr/>
          <p:nvPr/>
        </p:nvSpPr>
        <p:spPr>
          <a:xfrm rot="5400000">
            <a:off x="10581033" y="2960113"/>
            <a:ext cx="1459685" cy="76556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036" name="Picture 12" descr="Validate Icon #234916 - Free Icons Library">
            <a:extLst>
              <a:ext uri="{FF2B5EF4-FFF2-40B4-BE49-F238E27FC236}">
                <a16:creationId xmlns:a16="http://schemas.microsoft.com/office/drawing/2014/main" id="{F006584B-BFFD-47C0-BE7D-ABD795745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6214" y="3541471"/>
            <a:ext cx="796207" cy="79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ata transformation Icon - Download Data transformation Icon 2011083 | Noun  Project">
            <a:extLst>
              <a:ext uri="{FF2B5EF4-FFF2-40B4-BE49-F238E27FC236}">
                <a16:creationId xmlns:a16="http://schemas.microsoft.com/office/drawing/2014/main" id="{235CF4D5-7AD4-494A-BA8B-597CC1C0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223" y="3241043"/>
            <a:ext cx="1246995" cy="124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ícone Análise, dados, o google analytics Livre - Icon-Icons.com">
            <a:extLst>
              <a:ext uri="{FF2B5EF4-FFF2-40B4-BE49-F238E27FC236}">
                <a16:creationId xmlns:a16="http://schemas.microsoft.com/office/drawing/2014/main" id="{46D21CBE-2FC2-4BB3-9956-E9B0BA56E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31" y="3461978"/>
            <a:ext cx="925100" cy="92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BDDF6C70-ECFD-4615-9169-5C8C7F3D1FE1}"/>
              </a:ext>
            </a:extLst>
          </p:cNvPr>
          <p:cNvSpPr/>
          <p:nvPr/>
        </p:nvSpPr>
        <p:spPr>
          <a:xfrm>
            <a:off x="2712825" y="3349792"/>
            <a:ext cx="1842736" cy="1682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EADDE9A6-19DE-4FD9-911B-1FB4B58D54DD}"/>
              </a:ext>
            </a:extLst>
          </p:cNvPr>
          <p:cNvSpPr txBox="1"/>
          <p:nvPr/>
        </p:nvSpPr>
        <p:spPr>
          <a:xfrm>
            <a:off x="2632944" y="4338264"/>
            <a:ext cx="204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StreamLite</a:t>
            </a:r>
            <a:endParaRPr lang="pt-BR" dirty="0"/>
          </a:p>
          <a:p>
            <a:pPr algn="ctr"/>
            <a:r>
              <a:rPr lang="pt-BR" dirty="0" err="1"/>
              <a:t>DashBoard</a:t>
            </a:r>
            <a:endParaRPr lang="pt-BR" dirty="0"/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2BA27C4F-965B-47F1-92C2-07C13D96FB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4146" y="3544884"/>
            <a:ext cx="892876" cy="812878"/>
          </a:xfrm>
          <a:prstGeom prst="rect">
            <a:avLst/>
          </a:prstGeom>
        </p:spPr>
      </p:pic>
      <p:sp>
        <p:nvSpPr>
          <p:cNvPr id="88" name="Seta: para a Direita 87">
            <a:extLst>
              <a:ext uri="{FF2B5EF4-FFF2-40B4-BE49-F238E27FC236}">
                <a16:creationId xmlns:a16="http://schemas.microsoft.com/office/drawing/2014/main" id="{9B423CE3-DE65-426C-815C-B51CDA52A941}"/>
              </a:ext>
            </a:extLst>
          </p:cNvPr>
          <p:cNvSpPr/>
          <p:nvPr/>
        </p:nvSpPr>
        <p:spPr>
          <a:xfrm rot="10800000">
            <a:off x="8783418" y="3892343"/>
            <a:ext cx="1011005" cy="398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Seta: para a Direita 88">
            <a:extLst>
              <a:ext uri="{FF2B5EF4-FFF2-40B4-BE49-F238E27FC236}">
                <a16:creationId xmlns:a16="http://schemas.microsoft.com/office/drawing/2014/main" id="{328D6C56-EDAC-473E-9E0E-DF3F29382AC0}"/>
              </a:ext>
            </a:extLst>
          </p:cNvPr>
          <p:cNvSpPr/>
          <p:nvPr/>
        </p:nvSpPr>
        <p:spPr>
          <a:xfrm rot="10800000">
            <a:off x="6419635" y="3892343"/>
            <a:ext cx="1011005" cy="398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Seta: para a Direita 89">
            <a:extLst>
              <a:ext uri="{FF2B5EF4-FFF2-40B4-BE49-F238E27FC236}">
                <a16:creationId xmlns:a16="http://schemas.microsoft.com/office/drawing/2014/main" id="{29537171-B4C6-4530-A0FB-BBEFF235995A}"/>
              </a:ext>
            </a:extLst>
          </p:cNvPr>
          <p:cNvSpPr/>
          <p:nvPr/>
        </p:nvSpPr>
        <p:spPr>
          <a:xfrm rot="10800000">
            <a:off x="4196485" y="3892343"/>
            <a:ext cx="1011005" cy="398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68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2730A3-3F31-45A4-8A9A-93BB9B7D16CB}"/>
              </a:ext>
            </a:extLst>
          </p:cNvPr>
          <p:cNvSpPr txBox="1"/>
          <p:nvPr/>
        </p:nvSpPr>
        <p:spPr>
          <a:xfrm>
            <a:off x="453006" y="251670"/>
            <a:ext cx="10796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Berlin Sans FB Demi" panose="020E0802020502020306" pitchFamily="34" charset="0"/>
              </a:rPr>
              <a:t>Conceituação do Projeto - PGC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2F7EC8-97BB-4D3A-8622-6A431CE8666D}"/>
              </a:ext>
            </a:extLst>
          </p:cNvPr>
          <p:cNvSpPr txBox="1"/>
          <p:nvPr/>
        </p:nvSpPr>
        <p:spPr>
          <a:xfrm>
            <a:off x="385894" y="964734"/>
            <a:ext cx="116355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 que é o problema? Qual a ambição?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Por que queremos resolver o problema (Por quê)?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Quais são as principais dores que este problema causa? O que queremos trazer com o desenvolvimento da solução?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Quais são as saídas esperadas do projeto?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Quais são os critérios de sucesso para este projeto?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38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2730A3-3F31-45A4-8A9A-93BB9B7D16CB}"/>
              </a:ext>
            </a:extLst>
          </p:cNvPr>
          <p:cNvSpPr txBox="1"/>
          <p:nvPr/>
        </p:nvSpPr>
        <p:spPr>
          <a:xfrm>
            <a:off x="453006" y="251670"/>
            <a:ext cx="10796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Berlin Sans FB Demi" panose="020E0802020502020306" pitchFamily="34" charset="0"/>
              </a:rPr>
              <a:t>Links Úteis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2F7EC8-97BB-4D3A-8622-6A431CE8666D}"/>
              </a:ext>
            </a:extLst>
          </p:cNvPr>
          <p:cNvSpPr txBox="1"/>
          <p:nvPr/>
        </p:nvSpPr>
        <p:spPr>
          <a:xfrm>
            <a:off x="385894" y="964734"/>
            <a:ext cx="116355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GitHub do PGC: </a:t>
            </a:r>
            <a:r>
              <a:rPr lang="pt-BR" dirty="0">
                <a:hlinkClick r:id="rId2"/>
              </a:rPr>
              <a:t>https://github.com/Vieirbat/PGC</a:t>
            </a:r>
            <a:endParaRPr lang="pt-B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Usei o </a:t>
            </a:r>
            <a:r>
              <a:rPr lang="pt-BR" dirty="0" err="1"/>
              <a:t>Cookiutter</a:t>
            </a:r>
            <a:r>
              <a:rPr lang="pt-BR" dirty="0"/>
              <a:t> como referência;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hlinkClick r:id="rId3"/>
              </a:rPr>
              <a:t>https://drivendata.github.io/cookiecutter-data-science/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Kanban</a:t>
            </a:r>
            <a:r>
              <a:rPr lang="pt-BR" dirty="0"/>
              <a:t> do PGC: </a:t>
            </a:r>
            <a:r>
              <a:rPr lang="pt-BR" dirty="0">
                <a:hlinkClick r:id="rId4"/>
              </a:rPr>
              <a:t>https://github.com/users/Vieirbat/projects/1</a:t>
            </a:r>
            <a:endParaRPr lang="pt-B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As atividades estarão disponíveis aqui;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Link do projeto no </a:t>
            </a:r>
            <a:r>
              <a:rPr lang="pt-BR" dirty="0" err="1"/>
              <a:t>Overleaf</a:t>
            </a:r>
            <a:r>
              <a:rPr lang="pt-BR" dirty="0"/>
              <a:t>: </a:t>
            </a:r>
            <a:r>
              <a:rPr lang="pt-BR" dirty="0">
                <a:hlinkClick r:id="rId5"/>
              </a:rPr>
              <a:t>https://www.overleaf.com/9326635892jdwxdzgxnwtj</a:t>
            </a:r>
            <a:endParaRPr lang="pt-B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Estou usando o </a:t>
            </a:r>
            <a:r>
              <a:rPr lang="pt-BR" dirty="0" err="1"/>
              <a:t>template</a:t>
            </a:r>
            <a:r>
              <a:rPr lang="pt-BR" dirty="0"/>
              <a:t> de Mestrado para já ir me acostumando;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500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2730A3-3F31-45A4-8A9A-93BB9B7D16CB}"/>
              </a:ext>
            </a:extLst>
          </p:cNvPr>
          <p:cNvSpPr txBox="1"/>
          <p:nvPr/>
        </p:nvSpPr>
        <p:spPr>
          <a:xfrm>
            <a:off x="453006" y="251670"/>
            <a:ext cx="10796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Berlin Sans FB Demi" panose="020E0802020502020306" pitchFamily="34" charset="0"/>
              </a:rPr>
              <a:t>PGCI - Entregáveis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2F7EC8-97BB-4D3A-8622-6A431CE8666D}"/>
              </a:ext>
            </a:extLst>
          </p:cNvPr>
          <p:cNvSpPr txBox="1"/>
          <p:nvPr/>
        </p:nvSpPr>
        <p:spPr>
          <a:xfrm>
            <a:off x="453006" y="2199788"/>
            <a:ext cx="11635530" cy="6697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Tarefas: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Pegar </a:t>
            </a:r>
            <a:r>
              <a:rPr lang="pt-BR" dirty="0" err="1"/>
              <a:t>template</a:t>
            </a:r>
            <a:r>
              <a:rPr lang="pt-BR" dirty="0"/>
              <a:t> de PGC;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/>
              <a:t>Aidiconar</a:t>
            </a:r>
            <a:r>
              <a:rPr lang="pt-BR" dirty="0"/>
              <a:t> </a:t>
            </a:r>
            <a:r>
              <a:rPr lang="pt-BR" dirty="0" err="1"/>
              <a:t>template</a:t>
            </a:r>
            <a:r>
              <a:rPr lang="pt-BR" dirty="0"/>
              <a:t> no </a:t>
            </a:r>
            <a:r>
              <a:rPr lang="pt-BR" dirty="0" err="1"/>
              <a:t>Overleaf</a:t>
            </a:r>
            <a:r>
              <a:rPr lang="pt-BR" dirty="0"/>
              <a:t>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Reestudar </a:t>
            </a:r>
            <a:r>
              <a:rPr lang="pt-BR" dirty="0" err="1"/>
              <a:t>Latex</a:t>
            </a:r>
            <a:r>
              <a:rPr lang="pt-BR" dirty="0"/>
              <a:t> (paralelo);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Entender funcionamento do GROBID (como serviço, batch ou em um container);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https://github.com/kermitt2/grobid_client_python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Estudar modelo BERT Transformer (ler artigo do BERT: </a:t>
            </a:r>
            <a:r>
              <a:rPr lang="pt-BR" dirty="0">
                <a:hlinkClick r:id="rId3"/>
              </a:rPr>
              <a:t>https://arxiv.org/pdf/1810.04805.pdf</a:t>
            </a:r>
            <a:r>
              <a:rPr lang="pt-BR" dirty="0"/>
              <a:t> e outros);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Entender funcionamento do BERT;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Entender funcionamento do </a:t>
            </a:r>
            <a:r>
              <a:rPr lang="pt-BR" dirty="0" err="1"/>
              <a:t>MatBERT</a:t>
            </a:r>
            <a:r>
              <a:rPr lang="pt-BR" dirty="0"/>
              <a:t>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Gerar protótipo;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Escrever relatório PGC1 ()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4CF7BD-F336-499A-81B2-D766CC2CA6CF}"/>
              </a:ext>
            </a:extLst>
          </p:cNvPr>
          <p:cNvSpPr/>
          <p:nvPr/>
        </p:nvSpPr>
        <p:spPr>
          <a:xfrm>
            <a:off x="453007" y="843151"/>
            <a:ext cx="5405252" cy="14250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6401866-5FDE-4D74-A96D-D576D8AF0800}"/>
              </a:ext>
            </a:extLst>
          </p:cNvPr>
          <p:cNvSpPr/>
          <p:nvPr/>
        </p:nvSpPr>
        <p:spPr>
          <a:xfrm>
            <a:off x="6234544" y="808502"/>
            <a:ext cx="5688281" cy="14121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071585-149D-443B-90B2-CEA9833DA3D7}"/>
              </a:ext>
            </a:extLst>
          </p:cNvPr>
          <p:cNvSpPr txBox="1"/>
          <p:nvPr/>
        </p:nvSpPr>
        <p:spPr>
          <a:xfrm>
            <a:off x="641268" y="913322"/>
            <a:ext cx="4809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Grande entregável PGC1: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Protótipo V0;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 Relatório PGC1 no </a:t>
            </a:r>
            <a:r>
              <a:rPr lang="pt-BR" dirty="0" err="1"/>
              <a:t>OverLeaf</a:t>
            </a:r>
            <a:r>
              <a:rPr lang="pt-BR" dirty="0"/>
              <a:t>;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DCDDB2-3E69-4FCD-B5EB-1CBB04764BBB}"/>
              </a:ext>
            </a:extLst>
          </p:cNvPr>
          <p:cNvSpPr txBox="1"/>
          <p:nvPr/>
        </p:nvSpPr>
        <p:spPr>
          <a:xfrm>
            <a:off x="6440131" y="865818"/>
            <a:ext cx="4809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Grande entregável PGC1: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Protótipo do uso do GROBID,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194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2730A3-3F31-45A4-8A9A-93BB9B7D16CB}"/>
              </a:ext>
            </a:extLst>
          </p:cNvPr>
          <p:cNvSpPr txBox="1"/>
          <p:nvPr/>
        </p:nvSpPr>
        <p:spPr>
          <a:xfrm>
            <a:off x="453006" y="251670"/>
            <a:ext cx="10796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Berlin Sans FB Demi" panose="020E0802020502020306" pitchFamily="34" charset="0"/>
              </a:rPr>
              <a:t>PGCII - Entregáveis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2F7EC8-97BB-4D3A-8622-6A431CE8666D}"/>
              </a:ext>
            </a:extLst>
          </p:cNvPr>
          <p:cNvSpPr txBox="1"/>
          <p:nvPr/>
        </p:nvSpPr>
        <p:spPr>
          <a:xfrm>
            <a:off x="453006" y="2425413"/>
            <a:ext cx="1163553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Tarefas: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Adicionar tarefa;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4CF7BD-F336-499A-81B2-D766CC2CA6CF}"/>
              </a:ext>
            </a:extLst>
          </p:cNvPr>
          <p:cNvSpPr/>
          <p:nvPr/>
        </p:nvSpPr>
        <p:spPr>
          <a:xfrm>
            <a:off x="453007" y="1009403"/>
            <a:ext cx="5405252" cy="14250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6401866-5FDE-4D74-A96D-D576D8AF0800}"/>
              </a:ext>
            </a:extLst>
          </p:cNvPr>
          <p:cNvSpPr/>
          <p:nvPr/>
        </p:nvSpPr>
        <p:spPr>
          <a:xfrm>
            <a:off x="6234544" y="1022258"/>
            <a:ext cx="5688281" cy="14121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071585-149D-443B-90B2-CEA9833DA3D7}"/>
              </a:ext>
            </a:extLst>
          </p:cNvPr>
          <p:cNvSpPr txBox="1"/>
          <p:nvPr/>
        </p:nvSpPr>
        <p:spPr>
          <a:xfrm>
            <a:off x="641268" y="1079574"/>
            <a:ext cx="4809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Grande entregável PGC2: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Entregável;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7D8C07-CFB5-4802-83E3-4204AAF690AF}"/>
              </a:ext>
            </a:extLst>
          </p:cNvPr>
          <p:cNvSpPr txBox="1"/>
          <p:nvPr/>
        </p:nvSpPr>
        <p:spPr>
          <a:xfrm>
            <a:off x="6440131" y="1079574"/>
            <a:ext cx="4809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Grande entregável PGC2: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Entregável;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706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2730A3-3F31-45A4-8A9A-93BB9B7D16CB}"/>
              </a:ext>
            </a:extLst>
          </p:cNvPr>
          <p:cNvSpPr txBox="1"/>
          <p:nvPr/>
        </p:nvSpPr>
        <p:spPr>
          <a:xfrm>
            <a:off x="453006" y="251670"/>
            <a:ext cx="10796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Berlin Sans FB Demi" panose="020E0802020502020306" pitchFamily="34" charset="0"/>
              </a:rPr>
              <a:t>PGCIII - Entregáveis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2F7EC8-97BB-4D3A-8622-6A431CE8666D}"/>
              </a:ext>
            </a:extLst>
          </p:cNvPr>
          <p:cNvSpPr txBox="1"/>
          <p:nvPr/>
        </p:nvSpPr>
        <p:spPr>
          <a:xfrm>
            <a:off x="453006" y="2425413"/>
            <a:ext cx="1163553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Tarefas: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Adicionar tarefa;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4CF7BD-F336-499A-81B2-D766CC2CA6CF}"/>
              </a:ext>
            </a:extLst>
          </p:cNvPr>
          <p:cNvSpPr/>
          <p:nvPr/>
        </p:nvSpPr>
        <p:spPr>
          <a:xfrm>
            <a:off x="453007" y="1009403"/>
            <a:ext cx="5405252" cy="14250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6401866-5FDE-4D74-A96D-D576D8AF0800}"/>
              </a:ext>
            </a:extLst>
          </p:cNvPr>
          <p:cNvSpPr/>
          <p:nvPr/>
        </p:nvSpPr>
        <p:spPr>
          <a:xfrm>
            <a:off x="6234544" y="1022258"/>
            <a:ext cx="5688281" cy="14121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071585-149D-443B-90B2-CEA9833DA3D7}"/>
              </a:ext>
            </a:extLst>
          </p:cNvPr>
          <p:cNvSpPr txBox="1"/>
          <p:nvPr/>
        </p:nvSpPr>
        <p:spPr>
          <a:xfrm>
            <a:off x="641268" y="1079574"/>
            <a:ext cx="4809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Grande entregável PGC3: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Versão final do projeto;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Relatório Final;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7D8C07-CFB5-4802-83E3-4204AAF690AF}"/>
              </a:ext>
            </a:extLst>
          </p:cNvPr>
          <p:cNvSpPr txBox="1"/>
          <p:nvPr/>
        </p:nvSpPr>
        <p:spPr>
          <a:xfrm>
            <a:off x="6440131" y="1079574"/>
            <a:ext cx="4809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Grande entregável PGC3: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Versão final do projeto;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Relatório Final;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01123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362</Words>
  <Application>Microsoft Office PowerPoint</Application>
  <PresentationFormat>Widescreen</PresentationFormat>
  <Paragraphs>87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Berlin Sans FB Demi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Vieira Batista Vierbat</dc:creator>
  <cp:lastModifiedBy>Daniel Vieira Batista Vierbat</cp:lastModifiedBy>
  <cp:revision>3</cp:revision>
  <dcterms:created xsi:type="dcterms:W3CDTF">2022-03-21T19:36:11Z</dcterms:created>
  <dcterms:modified xsi:type="dcterms:W3CDTF">2022-03-21T23:06:51Z</dcterms:modified>
</cp:coreProperties>
</file>